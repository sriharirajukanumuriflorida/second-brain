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194560"/>
            <a:ext cx="105156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FFFFFF"/>
                </a:solidFill>
              </a:defRPr>
            </a:pPr>
            <a:r>
              <a:t>AI Solution Architecture — Reference Patterns</a:t>
            </a:r>
          </a:p>
          <a:p>
            <a:pPr>
              <a:defRPr sz="2200">
                <a:solidFill>
                  <a:srgbClr val="2196F3"/>
                </a:solidFill>
              </a:defRPr>
            </a:pPr>
            <a:r>
              <a:t>Reference architectures, C4 communication, ADR discipline, and production cross-cutting controls for enterprise AI systems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585216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FF9900"/>
                </a:solidFill>
              </a:defRPr>
            </a:pPr>
            <a:r>
              <a:t>AI Architecture · Week 19a · Week 19a — AI Solution Architecture · Reference Patterns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Learning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By the end you can:</a:t>
            </a:r>
          </a:p>
          <a:p>
            <a:pPr lvl="1">
              <a:defRPr sz="1700">
                <a:solidFill>
                  <a:srgbClr val="444A54"/>
                </a:solidFill>
              </a:defRPr>
            </a:pPr>
            <a:r>
              <a:t>Explain AI architectural styles and tradeoffs</a:t>
            </a:r>
          </a:p>
          <a:p>
            <a:pPr lvl="1">
              <a:defRPr sz="1700">
                <a:solidFill>
                  <a:srgbClr val="444A54"/>
                </a:solidFill>
              </a:defRPr>
            </a:pPr>
            <a:r>
              <a:t>Use C4 views for mixed stakeholders</a:t>
            </a:r>
          </a:p>
          <a:p>
            <a:pPr lvl="1">
              <a:defRPr sz="1700">
                <a:solidFill>
                  <a:srgbClr val="444A54"/>
                </a:solidFill>
              </a:defRPr>
            </a:pPr>
            <a:r>
              <a:t>Write ADRs for AI decisions</a:t>
            </a:r>
          </a:p>
          <a:p>
            <a:pPr lvl="1">
              <a:defRPr sz="1700">
                <a:solidFill>
                  <a:srgbClr val="444A54"/>
                </a:solidFill>
              </a:defRPr>
            </a:pPr>
            <a:r>
              <a:t>Select reference architectures and controls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196F3"/>
                </a:solidFill>
              </a:defRPr>
            </a:pPr>
            <a:r>
              <a:t>AI Solution Architecture — Reference Patterns · AI Architecture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Mental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AI architecture is control plane + capabilities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Model call is only one container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Swappable ports preserve options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ADRs make risk deliberate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Failure modes shape the 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196F3"/>
                </a:solidFill>
              </a:defRPr>
            </a:pPr>
            <a:r>
              <a:t>AI Solution Architecture — Reference Patterns · AI Architecture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Architectural Styles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Layered: stakeholder clarity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Hexagonal: swappable providers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Event-driven: ingestion and feedback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Modular monolith before microservices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BFF for streaming AI UX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196F3"/>
                </a:solidFill>
              </a:defRPr>
            </a:pPr>
            <a:r>
              <a:t>AI Solution Architecture — Reference Patterns · AI Architecture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C4 for AI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Context: users, providers, data boundaries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Container: BFF, API, workers, vector DB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Component: retriever, guardrail, router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Code: exact ports and contracts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One story, audience-specific depth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196F3"/>
                </a:solidFill>
              </a:defRPr>
            </a:pPr>
            <a:r>
              <a:t>AI Solution Architecture — Reference Patterns · AI Architecture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ADR Discipline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Context: forces and constraints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Decision: chosen path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Consequences: benefits, risks, revisits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Alternatives: serious rejected options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Status: proposed/accepted/superseded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196F3"/>
                </a:solidFill>
              </a:defRPr>
            </a:pPr>
            <a:r>
              <a:t>AI Solution Architecture — Reference Patterns · AI Architecture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Core Reference Patterns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Simple LLM call for bounded generation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RAG for grounded changing knowledge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Agent for tool-choosing action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Multi-agent when roles are separable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Fine-tuned serving for stable learned behavior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196F3"/>
                </a:solidFill>
              </a:defRPr>
            </a:pPr>
            <a:r>
              <a:t>AI Solution Architecture — Reference Patterns · AI Architecture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RAG Pipeline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Ingest -&gt; chunk -&gt; embed -&gt; index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Retrieve -&gt; rerank -&gt; generate -&gt; cite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ACL filters are not optional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Golden-query evals catch regressions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Citations are UX and safety control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196F3"/>
                </a:solidFill>
              </a:defRPr>
            </a:pPr>
            <a:r>
              <a:t>AI Solution Architecture — Reference Patterns · AI Architecture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Agents and Human Review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Tool registry and planner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Memory with policy boundaries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Max calls and budget limits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Approval queue for risky actions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Audit log and escalation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196F3"/>
                </a:solidFill>
              </a:defRPr>
            </a:pPr>
            <a:r>
              <a:t>AI Solution Architecture — Reference Patterns · AI Architecture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Cross-Cutting Controls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Prompt, tool, and model registries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PII/DLP and guardrails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Tracing and cost accounting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Eval harness and feature flags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Caching, fallback, degraded modes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196F3"/>
                </a:solidFill>
              </a:defRPr>
            </a:pPr>
            <a:r>
              <a:t>AI Solution Architecture — Reference Patterns · AI Architecture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9900"/>
                </a:solidFill>
              </a:defRPr>
            </a:pPr>
            <a:r>
              <a:t>Provider Port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280160"/>
            <a:ext cx="10972800" cy="5120640"/>
          </a:xfrm>
          <a:prstGeom prst="rect">
            <a:avLst/>
          </a:prstGeom>
          <a:solidFill>
            <a:srgbClr val="101828"/>
          </a:solidFill>
          <a:ln>
            <a:solidFill>
              <a:srgbClr val="219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82880"/>
          <a:lstStyle/>
          <a:p>
            <a:pPr algn="ctr">
              <a:defRPr sz="1400">
                <a:solidFill>
                  <a:srgbClr val="E6EDF3"/>
                </a:solidFill>
                <a:latin typeface="Menlo"/>
              </a:defRPr>
            </a:pPr>
            <a:r>
              <a:t>class LLMProvider(Protocol):</a:t>
            </a:r>
          </a:p>
          <a:p>
            <a:pPr>
              <a:defRPr sz="1400">
                <a:solidFill>
                  <a:srgbClr val="E6EDF3"/>
                </a:solidFill>
                <a:latin typeface="Menlo"/>
              </a:defRPr>
            </a:pPr>
            <a:r>
              <a:t>    def complete(self, prompt: str) -&gt; str: ...</a:t>
            </a:r>
          </a:p>
          <a:p>
            <a:pPr>
              <a:defRPr sz="1400">
                <a:solidFill>
                  <a:srgbClr val="E6EDF3"/>
                </a:solidFill>
                <a:latin typeface="Menlo"/>
              </a:defRPr>
            </a:pPr>
          </a:p>
          <a:p>
            <a:pPr>
              <a:defRPr sz="1400">
                <a:solidFill>
                  <a:srgbClr val="E6EDF3"/>
                </a:solidFill>
                <a:latin typeface="Menlo"/>
              </a:defRPr>
            </a:pPr>
            <a:r>
              <a:t># Azure, Bedrock, Vertex, or local adapters</a:t>
            </a:r>
          </a:p>
          <a:p>
            <a:pPr>
              <a:defRPr sz="1400">
                <a:solidFill>
                  <a:srgbClr val="E6EDF3"/>
                </a:solidFill>
                <a:latin typeface="Menlo"/>
              </a:defRPr>
            </a:pPr>
            <a:r>
              <a:t># bind here; product logic depends on the port.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Decision Examples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Azure OpenAI vs Bedrock vs Vertex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RAG vs fine-tune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pgvector vs Pinecone vs Qdrant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LangChain vs LlamaIndex vs bespoke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REST vs streaming SSE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196F3"/>
                </a:solidFill>
              </a:defRPr>
            </a:pPr>
            <a:r>
              <a:t>AI Solution Architecture — Reference Patterns · AI Architecture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Failure Modes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Provider outage cascades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Runaway agent cost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Retrieval regression after re-embed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Prompt injection and tool exfiltration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PII boundary violation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196F3"/>
                </a:solidFill>
              </a:defRPr>
            </a:pPr>
            <a:r>
              <a:t>AI Solution Architecture — Reference Patterns · AI Architecture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FDE Angle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Architecture is a client deliverable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Reference patterns accelerate trust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Ports preserve procurement options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C4 + ADRs enable handoff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Controls make production defensible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196F3"/>
                </a:solidFill>
              </a:defRPr>
            </a:pPr>
            <a:r>
              <a:t>AI Solution Architecture — Reference Patterns · AI Architecture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