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Transformer / LLM Architecture</a:t>
            </a:r>
          </a:p>
          <a:p>
            <a:pPr>
              <a:defRPr sz="2200">
                <a:solidFill>
                  <a:srgbClr val="2196F3"/>
                </a:solidFill>
              </a:defRPr>
            </a:pPr>
            <a:r>
              <a:t>How attention, MLPs, residuals and norms stack into a decoder-only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9900"/>
                </a:solidFill>
              </a:defRPr>
            </a:pPr>
            <a:r>
              <a:t>LLM Engineering · Domain 2 · Weeks 08/10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By the end you can: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Assemble a decoder-only transformer block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Explain the residual stream and norm placement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Describe attention vs MLP roles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Count params and reason about scaling laws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Big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transformer = a stack of identical blocks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They read/write a shared residual stream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Attention mixes info ACROSS tokens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MLP processes EACH token independently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Embeddings in at the bottom, logits out at the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Residual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Each sublayer: x = x + sublayer(norm(x))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The 'x +' is the skip connection</a:t>
            </a:r>
          </a:p>
          <a:p>
            <a:pPr lvl="1">
              <a:defRPr sz="1700">
                <a:solidFill>
                  <a:srgbClr val="444A54"/>
                </a:solidFill>
              </a:defRPr>
            </a:pPr>
            <a:r>
              <a:t>direct gradient path to every layer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 shared 'memory bus' all blocks read/write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Blocks ADD to it rather than replace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Transformer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x = x + MHA(LayerNorm(x))   # mix across tokens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x = x + MLP(LayerNorm(x))   # per-token compute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Pre-norm (norm before sublayer) = stable at depth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RMSNorm often replaces LayerNorm for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MLP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Two linears + nonlinearity, per position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MLP(x) = W_down · φ(W_up · x)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Hidden dim ~ 4× d_model -&gt; most of the params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Where much factual knowledge is 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9900"/>
                </a:solidFill>
              </a:defRPr>
            </a:pPr>
            <a:r>
              <a:t>A Transformer Block (numpy)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solidFill>
            <a:srgbClr val="101828"/>
          </a:solidFill>
          <a:ln>
            <a:solidFill>
              <a:srgbClr val="2196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defRPr sz="1400">
                <a:solidFill>
                  <a:srgbClr val="E6EDF3"/>
                </a:solidFill>
                <a:latin typeface="Menlo"/>
              </a:defRPr>
            </a:pPr>
            <a:r>
              <a:t>def block(x, p):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x = x + attn(layernorm(x, p['g1'], p['b1']),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             p['Wqkv'], p['Wo'])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h = gelu(layernorm(x, p['g2'], p['b2']) @ p['Wup'])</a:t>
            </a:r>
          </a:p>
          <a:p>
            <a:pPr>
              <a:defRPr sz="1400">
                <a:solidFill>
                  <a:srgbClr val="E6EDF3"/>
                </a:solidFill>
                <a:latin typeface="Menlo"/>
              </a:defRPr>
            </a:pPr>
            <a:r>
              <a:t>    return x + h @ p['Wdown']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Embeddings In, Logits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Bottom: token IDs -&gt; embedding + position (RoPE)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Top: final norm -&gt; unembed -&gt; vocab logits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Embedding/unembedding weights often tied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Everything between is N identical blocks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Depth, Width &amp;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params ~ 12 · n_layers · d_model²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Scaling laws: loss falls predictably with N, data, compute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Chinchilla: most models are UNDER-trained on data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7B on 2T tokens beats 13B on 300B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Pre-norm (modern) vs post-norm (original, finicky)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RMSNorm (cheap) vs LayerNorm (classic)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SwiGLU / GELU over ReLU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RoPE for length generalization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Balance depth/width with data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Post-norm at depth -&gt; instability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Forgetting residual add -&gt; untrainable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Norm after residual instead of before sublayer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Assuming attention holds the params (MLP does)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Over-sizing vs available training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The FDE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Read a model card and know exactly what it means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Param counting -&gt; VRAM/cost for self-hosting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MLP-holds-knowledge -&gt; why LoRA targets layers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Scaling-law literacy -&gt; 'more data, not bigger model'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Vaswani et al. (1706.03762); Radford GPT-2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Karpathy nanoGPT; Alammar Illustrated GPT-2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Elhage et al. — Transformer Circuits (Anthropic)</a:t>
            </a:r>
          </a:p>
          <a:p>
            <a:pPr>
              <a:spcBef>
                <a:spcPts val="900"/>
              </a:spcBef>
              <a:defRPr sz="2100" b="1">
                <a:solidFill>
                  <a:srgbClr val="0B1F3A"/>
                </a:solidFill>
              </a:defRPr>
            </a:pPr>
            <a:r>
              <a:t>Kaplan 2020; Hoffmann 2022 (Chinchilla)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196F3"/>
                </a:solidFill>
              </a:defRPr>
            </a:pPr>
            <a:r>
              <a:t>Transformer / LLM Architecture · LLM Engineering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