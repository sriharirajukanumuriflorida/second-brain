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2194560"/>
            <a:ext cx="1051560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400" b="1">
                <a:solidFill>
                  <a:srgbClr val="FFFFFF"/>
                </a:solidFill>
              </a:defRPr>
            </a:pPr>
            <a:r>
              <a:t>LLM Efficiency</a:t>
            </a:r>
          </a:p>
          <a:p>
            <a:pPr>
              <a:defRPr sz="2200">
                <a:solidFill>
                  <a:srgbClr val="2196F3"/>
                </a:solidFill>
              </a:defRPr>
            </a:pPr>
            <a:r>
              <a:t>KV cache, quantization, MoE, GQA/MQA, FlashAttention — the levers behind cost &amp; latency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585216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FF9900"/>
                </a:solidFill>
              </a:defRPr>
            </a:pPr>
            <a:r>
              <a:t>LLM Engineering · Domain 2 · Week 11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Learning Objectives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By the end you can:</a:t>
            </a:r>
          </a:p>
          <a:p>
            <a:pPr lvl="1">
              <a:defRPr sz="1700">
                <a:solidFill>
                  <a:srgbClr val="444A54"/>
                </a:solidFill>
              </a:defRPr>
            </a:pPr>
            <a:r>
              <a:t>Name the levers behind LLM cost &amp; latency</a:t>
            </a:r>
          </a:p>
          <a:p>
            <a:pPr lvl="1">
              <a:defRPr sz="1700">
                <a:solidFill>
                  <a:srgbClr val="444A54"/>
                </a:solidFill>
              </a:defRPr>
            </a:pPr>
            <a:r>
              <a:t>Explain KV cache, quantization, GQA/MQA, MoE</a:t>
            </a:r>
          </a:p>
          <a:p>
            <a:pPr lvl="1">
              <a:defRPr sz="1700">
                <a:solidFill>
                  <a:srgbClr val="444A54"/>
                </a:solidFill>
              </a:defRPr>
            </a:pPr>
            <a:r>
              <a:t>Estimate VRAM (weights + KV cache)</a:t>
            </a:r>
          </a:p>
          <a:p>
            <a:pPr lvl="1">
              <a:defRPr sz="1700">
                <a:solidFill>
                  <a:srgbClr val="444A54"/>
                </a:solidFill>
              </a:defRPr>
            </a:pPr>
            <a:r>
              <a:t>Pick efficiency techniques for a deployment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2196F3"/>
                </a:solidFill>
              </a:defRPr>
            </a:pPr>
            <a:r>
              <a:t>LLM Efficiency · LLM Engineering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Two Enemies: Memory &amp; Compute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Inference is usually MEMORY-BANDWIDTH bound</a:t>
            </a:r>
          </a:p>
          <a:p>
            <a:pPr lvl="1">
              <a:defRPr sz="1700">
                <a:solidFill>
                  <a:srgbClr val="444A54"/>
                </a:solidFill>
              </a:defRPr>
            </a:pPr>
            <a:r>
              <a:t>moving weights + KV cache, not raw FLOPs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Wins: make smaller, reuse, read less, activate less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Each technique attacks one of these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2196F3"/>
                </a:solidFill>
              </a:defRPr>
            </a:pPr>
            <a:r>
              <a:t>LLM Efficiency · LLM Engineering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KV Cache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Past tokens' K,V don't change -&gt; cache them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Each new token: one Q vs cached K/V</a:t>
            </a:r>
          </a:p>
          <a:p>
            <a:pPr lvl="1">
              <a:defRPr sz="1700">
                <a:solidFill>
                  <a:srgbClr val="444A54"/>
                </a:solidFill>
              </a:defRPr>
            </a:pPr>
            <a:r>
              <a:t>O(seq²) -&gt; O(seq) per step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KV bytes = 2·layers·seq·d·bytes·batch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At long context can exceed the weights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2196F3"/>
                </a:solidFill>
              </a:defRPr>
            </a:pPr>
            <a:r>
              <a:t>LLM Efficiency · LLM Engineering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Quantization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Store weights in 8/4 bits instead of 16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GPTQ, AWQ (post-training); QLoRA (4-bit + tune)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~2-4x smaller, boosts bandwidth-bound throughput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Small quality loss with good scaling/outlier handling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Most practical lever for cheaper hardware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2196F3"/>
                </a:solidFill>
              </a:defRPr>
            </a:pPr>
            <a:r>
              <a:t>LLM Efficiency · LLM Engineering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GQA / MQA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MHA: one K/V per query head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MQA: single shared K/V for all heads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GQA: a few K/V groups (middle ground)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Shrinks KV cache, speeds decode, minimal quality loss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LLaMA-2 70B, Mistral use GQA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2196F3"/>
                </a:solidFill>
              </a:defRPr>
            </a:pPr>
            <a:r>
              <a:t>LLM Efficiency · LLM Engineering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FlashAttention &amp; MoE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FlashAttention: tile attention, no seq×seq matrix in HBM</a:t>
            </a:r>
          </a:p>
          <a:p>
            <a:pPr lvl="1">
              <a:defRPr sz="1700">
                <a:solidFill>
                  <a:srgbClr val="444A54"/>
                </a:solidFill>
              </a:defRPr>
            </a:pPr>
            <a:r>
              <a:t>same math, less memory, ~2-4x faster (exact)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MoE: many expert MLPs, route token to top-k</a:t>
            </a:r>
          </a:p>
          <a:p>
            <a:pPr lvl="1">
              <a:defRPr sz="1700">
                <a:solidFill>
                  <a:srgbClr val="444A54"/>
                </a:solidFill>
              </a:defRPr>
            </a:pPr>
            <a:r>
              <a:t>more params, ~constant per-token compute</a:t>
            </a:r>
          </a:p>
          <a:p>
            <a:pPr lvl="1">
              <a:defRPr sz="1700">
                <a:solidFill>
                  <a:srgbClr val="444A54"/>
                </a:solidFill>
              </a:defRPr>
            </a:pPr>
            <a:r>
              <a:t>cost: memory for all experts + routing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2196F3"/>
                </a:solidFill>
              </a:defRPr>
            </a:pPr>
            <a:r>
              <a:t>LLM Efficiency · LLM Engineering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9900"/>
                </a:solidFill>
              </a:defRPr>
            </a:pPr>
            <a:r>
              <a:t>KV Cache Memory Math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280160"/>
            <a:ext cx="10972800" cy="5120640"/>
          </a:xfrm>
          <a:prstGeom prst="rect">
            <a:avLst/>
          </a:prstGeom>
          <a:solidFill>
            <a:srgbClr val="101828"/>
          </a:solidFill>
          <a:ln>
            <a:solidFill>
              <a:srgbClr val="2196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82880"/>
          <a:lstStyle/>
          <a:p>
            <a:pPr algn="ctr">
              <a:defRPr sz="1400">
                <a:solidFill>
                  <a:srgbClr val="E6EDF3"/>
                </a:solidFill>
                <a:latin typeface="Menlo"/>
              </a:defRPr>
            </a:pPr>
            <a:r>
              <a:t>def kv_cache_gb(layers, d, seq, batch=1, bytes=2, kv=None, heads=None):</a:t>
            </a:r>
          </a:p>
          <a:p>
            <a:pPr>
              <a:defRPr sz="1400">
                <a:solidFill>
                  <a:srgbClr val="E6EDF3"/>
                </a:solidFill>
                <a:latin typeface="Menlo"/>
              </a:defRPr>
            </a:pPr>
            <a:r>
              <a:t>    frac = 1.0 if not (kv and heads) else kv/heads</a:t>
            </a:r>
          </a:p>
          <a:p>
            <a:pPr>
              <a:defRPr sz="1400">
                <a:solidFill>
                  <a:srgbClr val="E6EDF3"/>
                </a:solidFill>
                <a:latin typeface="Menlo"/>
              </a:defRPr>
            </a:pPr>
            <a:r>
              <a:t>    return 2*layers*seq*(d*frac)*bytes*batch / 1e9</a:t>
            </a:r>
          </a:p>
          <a:p>
            <a:pPr>
              <a:defRPr sz="1400">
                <a:solidFill>
                  <a:srgbClr val="E6EDF3"/>
                </a:solidFill>
                <a:latin typeface="Menlo"/>
              </a:defRPr>
            </a:pPr>
            <a:r>
              <a:t># 32L, d=4096, seq=32k, batch=8:</a:t>
            </a:r>
          </a:p>
          <a:p>
            <a:pPr>
              <a:defRPr sz="1400">
                <a:solidFill>
                  <a:srgbClr val="E6EDF3"/>
                </a:solidFill>
                <a:latin typeface="Menlo"/>
              </a:defRPr>
            </a:pPr>
            <a:r>
              <a:t>#   MHA ~ 137 GB   |   GQA(8/32) ~ 34 GB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Design Decisions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Fit smaller GPU -&gt; quantize (INT4) first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Long context/big batch -&gt; GQA + quantized KV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Latency -&gt; GQA + FlashAttention + vLLM batching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Max capacity/FLOP -&gt; MoE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Always eval the quantized model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2196F3"/>
                </a:solidFill>
              </a:defRPr>
            </a:pPr>
            <a:r>
              <a:t>LLM Efficiency · LLM Engineering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Failure Modes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Ignoring KV cache in VRAM planning -&gt; OOM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Optimizing FLOPs when memory-bound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4-bit without eval -&gt; silent quality drop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Thinking MoE is cheaper to host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Treating FlashAttention as lossy (it's exact)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2196F3"/>
                </a:solidFill>
              </a:defRPr>
            </a:pPr>
            <a:r>
              <a:t>LLM Efficiency · LLM Engineering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The FDE Angle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The 'why is inference so expensive?' toolkit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Quant + GQA + vLLM -&gt; multi-fold cost cut, no retrain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VRAM math -&gt; size hardware, managed vs self-host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Deliverable: capacity/cost estimate + levers + quality risk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2196F3"/>
                </a:solidFill>
              </a:defRPr>
            </a:pPr>
            <a:r>
              <a:t>LLM Efficiency · LLM Engineering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You're memory-bound: shrink and reuse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KV cache reuses; quantization shrinks; GQA shares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FlashAttention = exact + faster; MoE = params without compute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Quantize + GQA = cheapest serving wins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2196F3"/>
                </a:solidFill>
              </a:defRPr>
            </a:pPr>
            <a:r>
              <a:t>LLM Efficiency · LLM Engineering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References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Pope et al. — Efficiently Scaling Transformer Inference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Dettmers LLM.int8()/QLoRA; Frantar GPTQ; AWQ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Ainslie GQA (2305.13245); Shazeer MQA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Dao FlashAttention (2205.14135); Fedus Switch (MoE)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2196F3"/>
                </a:solidFill>
              </a:defRPr>
            </a:pPr>
            <a:r>
              <a:t>LLM Efficiency · LLM Engineering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