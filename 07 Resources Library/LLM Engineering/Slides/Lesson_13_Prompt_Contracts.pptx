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Prompt Contracts</a:t>
            </a:r>
          </a:p>
          <a:p>
            <a:pPr>
              <a:defRPr sz="2200">
                <a:solidFill>
                  <a:srgbClr val="2196F3"/>
                </a:solidFill>
              </a:defRPr>
            </a:pPr>
            <a:r>
              <a:t>Treating prompts like APIs: roles, schemas, guardrails, and few-shot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9900"/>
                </a:solidFill>
              </a:defRPr>
            </a:pPr>
            <a:r>
              <a:t>LLM Engineering · Domain 3 · Week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By the end you can:</a:t>
            </a:r>
          </a:p>
          <a:p>
            <a:pPr lvl="1">
              <a:defRPr sz="1700">
                <a:solidFill>
                  <a:srgbClr val="444A54"/>
                </a:solidFill>
              </a:defRPr>
            </a:pPr>
            <a:r>
              <a:t>Design a prompt as a versioned contract</a:t>
            </a:r>
          </a:p>
          <a:p>
            <a:pPr lvl="1">
              <a:defRPr sz="1700">
                <a:solidFill>
                  <a:srgbClr val="444A54"/>
                </a:solidFill>
              </a:defRPr>
            </a:pPr>
            <a:r>
              <a:t>Use system/developer/user roles deliberately</a:t>
            </a:r>
          </a:p>
          <a:p>
            <a:pPr lvl="1">
              <a:defRPr sz="1700">
                <a:solidFill>
                  <a:srgbClr val="444A54"/>
                </a:solidFill>
              </a:defRPr>
            </a:pPr>
            <a:r>
              <a:t>Pin an output schema + few-shot + refusal</a:t>
            </a:r>
          </a:p>
          <a:p>
            <a:pPr lvl="1">
              <a:defRPr sz="1700">
                <a:solidFill>
                  <a:srgbClr val="444A54"/>
                </a:solidFill>
              </a:defRPr>
            </a:pPr>
            <a:r>
              <a:t>Defend against basic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Core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A production prompt is a CONTRACT, not a sentence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Defined inputs, outputs, and behavior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Like an API spec: request/response + errors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From tinkering -&gt; interface design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Explicit contract -&gt; predictable, buildable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Message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System: identity, tone, non-negotiable rules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Developer: task, steps, output schema, constraints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User: runtime input + retrieved context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Assistant: prior turns / few-shot completions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Durable rules in system; volatile data in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Pin the Output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State the exact format; make it machine-checkable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JSON matching a schema (ties to Structured Gen)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Describe every field + type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Say what to do when data is missing (null, not a guess)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json.loads-able &gt; clever prose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Few-Shot Exemplars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Examples teach format better than description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2-5 diverse exemplars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Cover tricky cases: empty, ambiguous, refuse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Keep exemplars in sync with the schema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'Do it like this' without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Guardrails &amp; Refusal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Specify the unhappy path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Out-of-scope, missing context, low confidence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Explicit escape hatch: {answer: null, reason: ...}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Prevents format-driven hallucination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Biggest lever on RAG groundedness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9900"/>
                </a:solidFill>
              </a:defRPr>
            </a:pPr>
            <a:r>
              <a:t>Contract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solidFill>
            <a:srgbClr val="101828"/>
          </a:solidFill>
          <a:ln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400">
                <a:solidFill>
                  <a:srgbClr val="E6EDF3"/>
                </a:solidFill>
                <a:latin typeface="Menlo"/>
              </a:defRPr>
            </a:pPr>
            <a:r>
              <a:t>def build(self, user_input, context=""):</a:t>
            </a:r>
          </a:p>
          <a:p>
            <a:pPr>
              <a:defRPr sz="1400">
                <a:solidFill>
                  <a:srgbClr val="E6EDF3"/>
                </a:solidFill>
                <a:latin typeface="Menlo"/>
              </a:defRPr>
            </a:pPr>
            <a:r>
              <a:t>    msgs = [system(self.system),</a:t>
            </a:r>
          </a:p>
          <a:p>
            <a:pPr>
              <a:defRPr sz="1400">
                <a:solidFill>
                  <a:srgbClr val="E6EDF3"/>
                </a:solidFill>
                <a:latin typeface="Menlo"/>
              </a:defRPr>
            </a:pPr>
            <a:r>
              <a:t>            developer(self.task, self.schema, self.refusal)]</a:t>
            </a:r>
          </a:p>
          <a:p>
            <a:pPr>
              <a:defRPr sz="1400">
                <a:solidFill>
                  <a:srgbClr val="E6EDF3"/>
                </a:solidFill>
                <a:latin typeface="Menlo"/>
              </a:defRPr>
            </a:pPr>
            <a:r>
              <a:t>    for ein, eout in self.examples:        # few-shot</a:t>
            </a:r>
          </a:p>
          <a:p>
            <a:pPr>
              <a:defRPr sz="1400">
                <a:solidFill>
                  <a:srgbClr val="E6EDF3"/>
                </a:solidFill>
                <a:latin typeface="Menlo"/>
              </a:defRPr>
            </a:pPr>
            <a:r>
              <a:t>        msgs += [user(ein), assistant(eout)]</a:t>
            </a:r>
          </a:p>
          <a:p>
            <a:pPr>
              <a:defRPr sz="1400">
                <a:solidFill>
                  <a:srgbClr val="E6EDF3"/>
                </a:solidFill>
                <a:latin typeface="Menlo"/>
              </a:defRPr>
            </a:pPr>
            <a:r>
              <a:t>    msgs.append(user(wrap(context) + user_input))</a:t>
            </a:r>
          </a:p>
          <a:p>
            <a:pPr>
              <a:defRPr sz="1400">
                <a:solidFill>
                  <a:srgbClr val="E6EDF3"/>
                </a:solidFill>
                <a:latin typeface="Menlo"/>
              </a:defRPr>
            </a:pPr>
            <a:r>
              <a:t>    return msgs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Delimiters &amp; Precedence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Wrap untrusted/retrieved content in delimiters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Tell the model: this is DATA, not instructions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Precedence: system &gt; developer &gt; user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User/document can't override your rules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First defense against prompt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Durable rules in system; data in user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Pin JSON schema + validate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2-5 diverse few-shot incl. refusal case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Always an explicit refusal path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Consider DSPy for complex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Failure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One giant user string -&gt; injectable, unmaintainable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No schema -&gt; parsing breaks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No refusal path -&gt; fabrication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Stale few-shot vs schema -&gt; contradictions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Editing prod prompt with no version/test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FDE 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Week 15: prompting as an API contract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The contract is a client deliverable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Roles + refusal = cheapest hallucination/injection lever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Deliverable: versioned contract + validation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OpenAI / Anthropic / Google prompting guides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The Prompt Report (Schulhoff, 2406.06608)</a:t>
            </a:r>
          </a:p>
          <a:p>
            <a:pPr>
              <a:spcBef>
                <a:spcPts val="900"/>
              </a:spcBef>
              <a:defRPr sz="2100" b="1">
                <a:solidFill>
                  <a:srgbClr val="0B1F3A"/>
                </a:solidFill>
              </a:defRPr>
            </a:pPr>
            <a:r>
              <a:t>DSPy — programmatic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196F3"/>
                </a:solidFill>
              </a:defRPr>
            </a:pPr>
            <a:r>
              <a:t>Prompt Contracts · LLM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